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6" r:id="rId2"/>
    <p:sldId id="287" r:id="rId3"/>
    <p:sldId id="298" r:id="rId4"/>
    <p:sldId id="259" r:id="rId5"/>
    <p:sldId id="291" r:id="rId6"/>
    <p:sldId id="292" r:id="rId7"/>
    <p:sldId id="290" r:id="rId8"/>
    <p:sldId id="289" r:id="rId9"/>
    <p:sldId id="288" r:id="rId10"/>
    <p:sldId id="294" r:id="rId11"/>
    <p:sldId id="295" r:id="rId12"/>
    <p:sldId id="296" r:id="rId13"/>
    <p:sldId id="297" r:id="rId14"/>
    <p:sldId id="277" r:id="rId15"/>
    <p:sldId id="279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7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8F1D90-69E8-6024-022A-46CB890FA916}" v="3" dt="2025-07-17T14:24:04.6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2" autoAdjust="0"/>
    <p:restoredTop sz="96976"/>
  </p:normalViewPr>
  <p:slideViewPr>
    <p:cSldViewPr snapToGrid="0">
      <p:cViewPr>
        <p:scale>
          <a:sx n="117" d="100"/>
          <a:sy n="117" d="100"/>
        </p:scale>
        <p:origin x="768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CE0D2-A05F-164F-956B-B8D6B56E8493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FE490-E683-DE45-B4A0-BE8B3CE0A6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101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6951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183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9472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669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303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5175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2428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750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362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43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952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7863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60653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FE490-E683-DE45-B4A0-BE8B3CE0A6B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71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962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63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334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04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93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826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10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13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958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78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6/12/26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36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83757" y="787844"/>
            <a:ext cx="11349038" cy="1524885"/>
          </a:xfrm>
        </p:spPr>
        <p:txBody>
          <a:bodyPr>
            <a:normAutofit/>
          </a:bodyPr>
          <a:lstStyle/>
          <a:p>
            <a:r>
              <a:rPr lang="fr-FR" dirty="0"/>
              <a:t>Surveillance techniques </a:t>
            </a:r>
            <a:r>
              <a:rPr lang="fr-FR" dirty="0" err="1"/>
              <a:t>evaluation</a:t>
            </a:r>
            <a:r>
              <a:rPr lang="fr-FR" dirty="0"/>
              <a:t>, a computer science and public </a:t>
            </a:r>
            <a:r>
              <a:rPr lang="fr-FR" dirty="0" err="1"/>
              <a:t>law</a:t>
            </a:r>
            <a:r>
              <a:rPr lang="fr-FR" dirty="0"/>
              <a:t> </a:t>
            </a:r>
            <a:r>
              <a:rPr lang="fr-FR" dirty="0" err="1"/>
              <a:t>study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66800" y="2993879"/>
            <a:ext cx="10058400" cy="1148878"/>
          </a:xfrm>
        </p:spPr>
        <p:txBody>
          <a:bodyPr>
            <a:normAutofit/>
          </a:bodyPr>
          <a:lstStyle/>
          <a:p>
            <a:r>
              <a:rPr lang="fr-FR" b="1" dirty="0">
                <a:ea typeface="+mn-lt"/>
                <a:cs typeface="+mn-lt"/>
              </a:rPr>
              <a:t>Mélanie romano</a:t>
            </a:r>
            <a:r>
              <a:rPr lang="fr-FR" dirty="0">
                <a:ea typeface="+mn-lt"/>
                <a:cs typeface="+mn-lt"/>
              </a:rPr>
              <a:t>, Nicolas Rougier, pauline </a:t>
            </a:r>
            <a:r>
              <a:rPr lang="fr-FR" dirty="0" err="1">
                <a:ea typeface="+mn-lt"/>
                <a:cs typeface="+mn-lt"/>
              </a:rPr>
              <a:t>gervier</a:t>
            </a:r>
            <a:endParaRPr lang="fr-FR" b="1" dirty="0">
              <a:ea typeface="+mn-lt"/>
              <a:cs typeface="+mn-lt"/>
            </a:endParaRPr>
          </a:p>
          <a:p>
            <a:r>
              <a:rPr lang="fr-FR" dirty="0">
                <a:ea typeface="+mn-lt"/>
                <a:cs typeface="+mn-lt"/>
              </a:rPr>
              <a:t>SSN 9-12th of </a:t>
            </a:r>
            <a:r>
              <a:rPr lang="fr-FR" dirty="0" err="1">
                <a:ea typeface="+mn-lt"/>
                <a:cs typeface="+mn-lt"/>
              </a:rPr>
              <a:t>june</a:t>
            </a:r>
            <a:r>
              <a:rPr lang="fr-FR" dirty="0">
                <a:ea typeface="+mn-lt"/>
                <a:cs typeface="+mn-lt"/>
              </a:rPr>
              <a:t> 2026</a:t>
            </a:r>
            <a:endParaRPr lang="fr-FR" dirty="0"/>
          </a:p>
        </p:txBody>
      </p:sp>
      <p:pic>
        <p:nvPicPr>
          <p:cNvPr id="7" name="Picture 2" descr="Intranet | LaBRI">
            <a:extLst>
              <a:ext uri="{FF2B5EF4-FFF2-40B4-BE49-F238E27FC236}">
                <a16:creationId xmlns:a16="http://schemas.microsoft.com/office/drawing/2014/main" id="{96749BD0-D0DC-2149-8C9B-5C0CBDE8B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4" y="6070156"/>
            <a:ext cx="1566697" cy="49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C1F273CF-C840-F0CA-2D9F-31AAFE047249}"/>
              </a:ext>
            </a:extLst>
          </p:cNvPr>
          <p:cNvSpPr txBox="1">
            <a:spLocks/>
          </p:cNvSpPr>
          <p:nvPr/>
        </p:nvSpPr>
        <p:spPr>
          <a:xfrm>
            <a:off x="1138044" y="1894004"/>
            <a:ext cx="9915912" cy="8111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tx1"/>
                </a:solidFill>
                <a:latin typeface="+mn-lt"/>
              </a:rPr>
              <a:t>From an example</a:t>
            </a:r>
            <a:endParaRPr lang="fr-FR" sz="2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2B61DE2-E83C-85AE-26B5-250225671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621" y="5820370"/>
            <a:ext cx="2761248" cy="966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6BAFC16-43EE-0520-F700-FE63441BF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485" y="5891524"/>
            <a:ext cx="2509836" cy="731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B1FAC399-F4A7-95EB-8FDD-CB1413286DF2}"/>
              </a:ext>
            </a:extLst>
          </p:cNvPr>
          <p:cNvSpPr/>
          <p:nvPr/>
        </p:nvSpPr>
        <p:spPr>
          <a:xfrm>
            <a:off x="10164501" y="5820370"/>
            <a:ext cx="1012835" cy="100928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78" name="Picture 6" descr="Observatoire de la surveillance en démocratie">
            <a:extLst>
              <a:ext uri="{FF2B5EF4-FFF2-40B4-BE49-F238E27FC236}">
                <a16:creationId xmlns:a16="http://schemas.microsoft.com/office/drawing/2014/main" id="{C69E3B4D-FDF8-B726-FB36-72A5FEDBC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727" y="5891562"/>
            <a:ext cx="1389486" cy="96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 descr="Surveillance Studies Network - Wikipedia">
            <a:extLst>
              <a:ext uri="{FF2B5EF4-FFF2-40B4-BE49-F238E27FC236}">
                <a16:creationId xmlns:a16="http://schemas.microsoft.com/office/drawing/2014/main" id="{F62A6D63-15D0-A10B-CAA4-0237D7F7AA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5730" y="3811350"/>
            <a:ext cx="3685092" cy="183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84B307D-F6F7-E5F9-36CD-3772399E611E}"/>
              </a:ext>
            </a:extLst>
          </p:cNvPr>
          <p:cNvSpPr txBox="1">
            <a:spLocks/>
          </p:cNvSpPr>
          <p:nvPr/>
        </p:nvSpPr>
        <p:spPr>
          <a:xfrm>
            <a:off x="877565" y="331803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>
                <a:ea typeface="+mj-lt"/>
                <a:cs typeface="+mj-lt"/>
              </a:rPr>
              <a:t>Summary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3ABC5EA-DFFB-7E73-655A-0E754A7DB08B}"/>
              </a:ext>
            </a:extLst>
          </p:cNvPr>
          <p:cNvSpPr txBox="1"/>
          <p:nvPr/>
        </p:nvSpPr>
        <p:spPr>
          <a:xfrm>
            <a:off x="877565" y="1663215"/>
            <a:ext cx="10511722" cy="42029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j-lt"/>
                <a:cs typeface="+mj-lt"/>
              </a:rPr>
              <a:t>What</a:t>
            </a: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j-lt"/>
                <a:cs typeface="+mj-lt"/>
              </a:rPr>
              <a:t> </a:t>
            </a:r>
            <a:r>
              <a:rPr lang="fr-FR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j-lt"/>
                <a:cs typeface="+mj-lt"/>
              </a:rPr>
              <a:t>is</a:t>
            </a: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j-lt"/>
                <a:cs typeface="+mj-lt"/>
              </a:rPr>
              <a:t> an </a:t>
            </a:r>
            <a:r>
              <a:rPr lang="fr-FR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j-lt"/>
                <a:cs typeface="+mj-lt"/>
              </a:rPr>
              <a:t>augmented</a:t>
            </a: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j-lt"/>
                <a:cs typeface="+mj-lt"/>
              </a:rPr>
              <a:t> camera ?</a:t>
            </a:r>
            <a:endParaRPr lang="fr-F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j-lt"/>
                <a:cs typeface="+mj-lt"/>
              </a:rPr>
              <a:t>History</a:t>
            </a: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j-lt"/>
                <a:cs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j-lt"/>
                <a:cs typeface="+mj-lt"/>
              </a:rPr>
              <a:t>Case </a:t>
            </a:r>
            <a:r>
              <a:rPr lang="fr-FR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j-lt"/>
                <a:cs typeface="+mj-lt"/>
              </a:rPr>
              <a:t>studies</a:t>
            </a:r>
            <a:endParaRPr lang="fr-FR" sz="2000" dirty="0">
              <a:solidFill>
                <a:schemeClr val="tx1">
                  <a:lumMod val="75000"/>
                  <a:lumOff val="25000"/>
                </a:schemeClr>
              </a:solidFill>
              <a:ea typeface="+mj-lt"/>
              <a:cs typeface="+mj-lt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j-lt"/>
                <a:cs typeface="+mj-lt"/>
              </a:rPr>
              <a:t>2024 Olympic Games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AVS in stores</a:t>
            </a:r>
            <a:endParaRPr lang="fr-FR" sz="20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Results</a:t>
            </a:r>
            <a:endParaRPr lang="fr-FR" sz="20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Reglementation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vs. reality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Surveillance techniques’ evaluation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Conclusion and openings</a:t>
            </a:r>
            <a:endParaRPr lang="fr-FR" sz="2000" i="1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804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en-GB" smtClean="0"/>
              <a:t>12/06/2026</a:t>
            </a:fld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GB" smtClean="0"/>
              <a:t>3</a:t>
            </a:fld>
            <a:endParaRPr lang="en-GB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84B307D-F6F7-E5F9-36CD-3772399E611E}"/>
              </a:ext>
            </a:extLst>
          </p:cNvPr>
          <p:cNvSpPr txBox="1">
            <a:spLocks/>
          </p:cNvSpPr>
          <p:nvPr/>
        </p:nvSpPr>
        <p:spPr>
          <a:xfrm>
            <a:off x="877565" y="331803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ea typeface="+mj-lt"/>
                <a:cs typeface="+mj-lt"/>
              </a:rPr>
              <a:t>What is an augmented camera ?</a:t>
            </a:r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3ABC5EA-DFFB-7E73-655A-0E754A7DB08B}"/>
              </a:ext>
            </a:extLst>
          </p:cNvPr>
          <p:cNvSpPr txBox="1"/>
          <p:nvPr/>
        </p:nvSpPr>
        <p:spPr>
          <a:xfrm>
            <a:off x="840139" y="2525341"/>
            <a:ext cx="1051172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Augmented cameras are video devices (AVS Algorithmic Video Surveillance) that incorporate algorithmic image analysis capabilities (often using AI).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Can be done in real-time or via recordings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3 contexts : public spaces, private spaces and « personal 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In France, regulated by only one text : the Olympic and paralympic games 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Only one EU regulatory text regulates it : the AI Act</a:t>
            </a:r>
            <a:endParaRPr lang="en-GB" sz="2000" i="1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C45DCDC-D133-0699-C71E-2BA6C9A9BE02}"/>
              </a:ext>
            </a:extLst>
          </p:cNvPr>
          <p:cNvSpPr txBox="1"/>
          <p:nvPr/>
        </p:nvSpPr>
        <p:spPr>
          <a:xfrm>
            <a:off x="5727149" y="5433425"/>
            <a:ext cx="737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[40], [41] </a:t>
            </a:r>
          </a:p>
        </p:txBody>
      </p:sp>
    </p:spTree>
    <p:extLst>
      <p:ext uri="{BB962C8B-B14F-4D97-AF65-F5344CB8AC3E}">
        <p14:creationId xmlns:p14="http://schemas.microsoft.com/office/powerpoint/2010/main" val="418333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84B307D-F6F7-E5F9-36CD-3772399E611E}"/>
              </a:ext>
            </a:extLst>
          </p:cNvPr>
          <p:cNvSpPr txBox="1">
            <a:spLocks/>
          </p:cNvSpPr>
          <p:nvPr/>
        </p:nvSpPr>
        <p:spPr>
          <a:xfrm>
            <a:off x="877565" y="331803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>
                <a:ea typeface="+mj-lt"/>
                <a:cs typeface="+mj-lt"/>
              </a:rPr>
              <a:t>History</a:t>
            </a: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796920F-69E6-DE20-002B-13D02D05AD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47" b="8158"/>
          <a:stretch/>
        </p:blipFill>
        <p:spPr>
          <a:xfrm>
            <a:off x="491389" y="1258522"/>
            <a:ext cx="11362066" cy="491274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0F7B0FF-6C7B-C446-4A31-75BC6647CBEB}"/>
              </a:ext>
            </a:extLst>
          </p:cNvPr>
          <p:cNvSpPr txBox="1"/>
          <p:nvPr/>
        </p:nvSpPr>
        <p:spPr>
          <a:xfrm>
            <a:off x="4812793" y="635635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[35] , [36] , [37] , [38]</a:t>
            </a:r>
          </a:p>
        </p:txBody>
      </p:sp>
    </p:spTree>
    <p:extLst>
      <p:ext uri="{BB962C8B-B14F-4D97-AF65-F5344CB8AC3E}">
        <p14:creationId xmlns:p14="http://schemas.microsoft.com/office/powerpoint/2010/main" val="1556573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84B307D-F6F7-E5F9-36CD-3772399E611E}"/>
              </a:ext>
            </a:extLst>
          </p:cNvPr>
          <p:cNvSpPr txBox="1">
            <a:spLocks/>
          </p:cNvSpPr>
          <p:nvPr/>
        </p:nvSpPr>
        <p:spPr>
          <a:xfrm>
            <a:off x="877565" y="331803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ea typeface="+mj-lt"/>
                <a:cs typeface="+mj-lt"/>
              </a:rPr>
              <a:t>Case </a:t>
            </a:r>
            <a:r>
              <a:rPr lang="fr-FR" dirty="0" err="1">
                <a:ea typeface="+mj-lt"/>
                <a:cs typeface="+mj-lt"/>
              </a:rPr>
              <a:t>study</a:t>
            </a:r>
            <a:r>
              <a:rPr lang="fr-FR" dirty="0">
                <a:ea typeface="+mj-lt"/>
                <a:cs typeface="+mj-lt"/>
              </a:rPr>
              <a:t> : AVS in the Paris Olympic Games</a:t>
            </a: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796920F-69E6-DE20-002B-13D02D05AD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" t="56304" r="-67" b="41922"/>
          <a:stretch/>
        </p:blipFill>
        <p:spPr>
          <a:xfrm>
            <a:off x="589140" y="6118861"/>
            <a:ext cx="11362066" cy="107314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D06B9479-EAE4-19C9-4304-99FA573CCC51}"/>
              </a:ext>
            </a:extLst>
          </p:cNvPr>
          <p:cNvSpPr/>
          <p:nvPr/>
        </p:nvSpPr>
        <p:spPr>
          <a:xfrm>
            <a:off x="3055620" y="6099810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7D98965-4A0D-BA27-2DD8-A25C515E8540}"/>
              </a:ext>
            </a:extLst>
          </p:cNvPr>
          <p:cNvSpPr/>
          <p:nvPr/>
        </p:nvSpPr>
        <p:spPr>
          <a:xfrm>
            <a:off x="5036820" y="609980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67AEF62-2505-1704-D5BC-063992755824}"/>
              </a:ext>
            </a:extLst>
          </p:cNvPr>
          <p:cNvSpPr/>
          <p:nvPr/>
        </p:nvSpPr>
        <p:spPr>
          <a:xfrm>
            <a:off x="7810500" y="609980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213AC10-4AD6-1F42-F3C9-83D7E3DE5824}"/>
              </a:ext>
            </a:extLst>
          </p:cNvPr>
          <p:cNvSpPr/>
          <p:nvPr/>
        </p:nvSpPr>
        <p:spPr>
          <a:xfrm>
            <a:off x="8039100" y="609980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0993E29-DFA9-F4A2-D2C9-DFB01CC4F1F5}"/>
              </a:ext>
            </a:extLst>
          </p:cNvPr>
          <p:cNvSpPr/>
          <p:nvPr/>
        </p:nvSpPr>
        <p:spPr>
          <a:xfrm>
            <a:off x="9151620" y="609980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68E56D0-E3DE-993E-21C5-1E39D3D489E8}"/>
              </a:ext>
            </a:extLst>
          </p:cNvPr>
          <p:cNvSpPr/>
          <p:nvPr/>
        </p:nvSpPr>
        <p:spPr>
          <a:xfrm>
            <a:off x="9936480" y="610361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5720690-EEA2-A8F6-8508-16A89B95DD6F}"/>
              </a:ext>
            </a:extLst>
          </p:cNvPr>
          <p:cNvSpPr/>
          <p:nvPr/>
        </p:nvSpPr>
        <p:spPr>
          <a:xfrm>
            <a:off x="9975344" y="6099810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993FE24-29D3-F83F-2782-FFCED6062325}"/>
              </a:ext>
            </a:extLst>
          </p:cNvPr>
          <p:cNvSpPr/>
          <p:nvPr/>
        </p:nvSpPr>
        <p:spPr>
          <a:xfrm>
            <a:off x="10085834" y="610742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E6A0B60-21F5-5D2B-BFB9-2AD43492B6F2}"/>
              </a:ext>
            </a:extLst>
          </p:cNvPr>
          <p:cNvSpPr/>
          <p:nvPr/>
        </p:nvSpPr>
        <p:spPr>
          <a:xfrm>
            <a:off x="10199370" y="610742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8EF4135-7B3B-FB2F-E203-4BCE757AF6FC}"/>
              </a:ext>
            </a:extLst>
          </p:cNvPr>
          <p:cNvSpPr/>
          <p:nvPr/>
        </p:nvSpPr>
        <p:spPr>
          <a:xfrm>
            <a:off x="10462260" y="6099808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5DB9BFE-8D9F-4B54-B2C6-619AC2DC288C}"/>
              </a:ext>
            </a:extLst>
          </p:cNvPr>
          <p:cNvSpPr/>
          <p:nvPr/>
        </p:nvSpPr>
        <p:spPr>
          <a:xfrm>
            <a:off x="10575796" y="6099808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D9918A8-4777-02D3-3D8D-6C803DC02940}"/>
              </a:ext>
            </a:extLst>
          </p:cNvPr>
          <p:cNvSpPr/>
          <p:nvPr/>
        </p:nvSpPr>
        <p:spPr>
          <a:xfrm>
            <a:off x="9799320" y="6061709"/>
            <a:ext cx="274320" cy="2514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29F8196-C707-886D-B9C0-4965D6955CF8}"/>
              </a:ext>
            </a:extLst>
          </p:cNvPr>
          <p:cNvSpPr/>
          <p:nvPr/>
        </p:nvSpPr>
        <p:spPr>
          <a:xfrm>
            <a:off x="10104884" y="6061709"/>
            <a:ext cx="274320" cy="2514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2608C11-FB8B-DF58-4306-5D11F6BF3126}"/>
              </a:ext>
            </a:extLst>
          </p:cNvPr>
          <p:cNvSpPr/>
          <p:nvPr/>
        </p:nvSpPr>
        <p:spPr>
          <a:xfrm>
            <a:off x="10499978" y="6061709"/>
            <a:ext cx="274320" cy="2514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B45A297-2B6C-0E8D-2FD0-2E17B5E0735E}"/>
              </a:ext>
            </a:extLst>
          </p:cNvPr>
          <p:cNvSpPr/>
          <p:nvPr/>
        </p:nvSpPr>
        <p:spPr>
          <a:xfrm>
            <a:off x="455285" y="4518761"/>
            <a:ext cx="3543299" cy="1000058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 of the VSA temporary </a:t>
            </a:r>
            <a:r>
              <a:rPr lang="en-US" dirty="0" err="1">
                <a:solidFill>
                  <a:schemeClr val="tx1"/>
                </a:solidFill>
              </a:rPr>
              <a:t>authorisation</a:t>
            </a:r>
            <a:r>
              <a:rPr lang="en-US" dirty="0">
                <a:solidFill>
                  <a:schemeClr val="tx1"/>
                </a:solidFill>
              </a:rPr>
              <a:t> (Olympic Games)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2023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4229C11-F72A-597F-C6E0-F934A4C6DCA7}"/>
              </a:ext>
            </a:extLst>
          </p:cNvPr>
          <p:cNvSpPr/>
          <p:nvPr/>
        </p:nvSpPr>
        <p:spPr>
          <a:xfrm>
            <a:off x="4449505" y="4525109"/>
            <a:ext cx="3543299" cy="1000058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Olympic games in Paris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2024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8684400-6B5B-8663-4579-65C5D7BA6CC9}"/>
              </a:ext>
            </a:extLst>
          </p:cNvPr>
          <p:cNvSpPr/>
          <p:nvPr/>
        </p:nvSpPr>
        <p:spPr>
          <a:xfrm>
            <a:off x="8443724" y="4518761"/>
            <a:ext cx="3543299" cy="1000058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Bill RIPOST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2026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27" name="Connecteur : en arc 26">
            <a:extLst>
              <a:ext uri="{FF2B5EF4-FFF2-40B4-BE49-F238E27FC236}">
                <a16:creationId xmlns:a16="http://schemas.microsoft.com/office/drawing/2014/main" id="{0FB4E95F-645D-ACE6-5C09-F4A8E1387088}"/>
              </a:ext>
            </a:extLst>
          </p:cNvPr>
          <p:cNvCxnSpPr>
            <a:stCxn id="23" idx="2"/>
            <a:endCxn id="20" idx="0"/>
          </p:cNvCxnSpPr>
          <p:nvPr/>
        </p:nvCxnSpPr>
        <p:spPr>
          <a:xfrm rot="16200000" flipH="1">
            <a:off x="5810262" y="1935491"/>
            <a:ext cx="542890" cy="7709545"/>
          </a:xfrm>
          <a:prstGeom prst="curvedConnector3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 : en arc 28">
            <a:extLst>
              <a:ext uri="{FF2B5EF4-FFF2-40B4-BE49-F238E27FC236}">
                <a16:creationId xmlns:a16="http://schemas.microsoft.com/office/drawing/2014/main" id="{60D1BAB4-5507-3C51-50F9-337B0BFF33D1}"/>
              </a:ext>
            </a:extLst>
          </p:cNvPr>
          <p:cNvCxnSpPr>
            <a:stCxn id="24" idx="2"/>
            <a:endCxn id="21" idx="0"/>
          </p:cNvCxnSpPr>
          <p:nvPr/>
        </p:nvCxnSpPr>
        <p:spPr>
          <a:xfrm rot="16200000" flipH="1">
            <a:off x="7963328" y="3782993"/>
            <a:ext cx="536542" cy="4020889"/>
          </a:xfrm>
          <a:prstGeom prst="curvedConnector3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 : en arc 36">
            <a:extLst>
              <a:ext uri="{FF2B5EF4-FFF2-40B4-BE49-F238E27FC236}">
                <a16:creationId xmlns:a16="http://schemas.microsoft.com/office/drawing/2014/main" id="{DB73F950-F443-DEE4-9D60-8A6227F16FB7}"/>
              </a:ext>
            </a:extLst>
          </p:cNvPr>
          <p:cNvCxnSpPr>
            <a:cxnSpLocks/>
            <a:stCxn id="25" idx="2"/>
            <a:endCxn id="22" idx="0"/>
          </p:cNvCxnSpPr>
          <p:nvPr/>
        </p:nvCxnSpPr>
        <p:spPr>
          <a:xfrm rot="16200000" flipH="1">
            <a:off x="10154811" y="5579382"/>
            <a:ext cx="542890" cy="421764"/>
          </a:xfrm>
          <a:prstGeom prst="curvedConnector3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E2526886-649E-D9F7-BAEC-102CE90DBB68}"/>
              </a:ext>
            </a:extLst>
          </p:cNvPr>
          <p:cNvSpPr txBox="1"/>
          <p:nvPr/>
        </p:nvSpPr>
        <p:spPr>
          <a:xfrm>
            <a:off x="809170" y="1745740"/>
            <a:ext cx="10511722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Olympic and paralympic games Act (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temporary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experimentation Text)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High risk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AI in the AI 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Forbidden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to use facial recognition (but clothes recognition as well)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Reconducted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until Olympics 2030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RIPOST bill using the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experimentation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in order to entrench the experimentation in the regulation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Regulation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before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the usage of the technology</a:t>
            </a:r>
            <a:endParaRPr lang="fr-FR" sz="20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50803F8-91F7-2B54-53B8-39C6EA3741A2}"/>
              </a:ext>
            </a:extLst>
          </p:cNvPr>
          <p:cNvSpPr txBox="1"/>
          <p:nvPr/>
        </p:nvSpPr>
        <p:spPr>
          <a:xfrm>
            <a:off x="4482350" y="6413954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[15] , [16] , [17] , [18] , [19] , [20]</a:t>
            </a:r>
          </a:p>
        </p:txBody>
      </p:sp>
    </p:spTree>
    <p:extLst>
      <p:ext uri="{BB962C8B-B14F-4D97-AF65-F5344CB8AC3E}">
        <p14:creationId xmlns:p14="http://schemas.microsoft.com/office/powerpoint/2010/main" val="1179353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84B307D-F6F7-E5F9-36CD-3772399E611E}"/>
              </a:ext>
            </a:extLst>
          </p:cNvPr>
          <p:cNvSpPr txBox="1">
            <a:spLocks/>
          </p:cNvSpPr>
          <p:nvPr/>
        </p:nvSpPr>
        <p:spPr>
          <a:xfrm>
            <a:off x="877565" y="331803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ea typeface="+mj-lt"/>
                <a:cs typeface="+mj-lt"/>
              </a:rPr>
              <a:t>Case </a:t>
            </a:r>
            <a:r>
              <a:rPr lang="fr-FR" dirty="0" err="1">
                <a:ea typeface="+mj-lt"/>
                <a:cs typeface="+mj-lt"/>
              </a:rPr>
              <a:t>study</a:t>
            </a:r>
            <a:r>
              <a:rPr lang="fr-FR" dirty="0">
                <a:ea typeface="+mj-lt"/>
                <a:cs typeface="+mj-lt"/>
              </a:rPr>
              <a:t> : AVS in the stores</a:t>
            </a: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796920F-69E6-DE20-002B-13D02D05AD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" t="56304" r="-67" b="41922"/>
          <a:stretch/>
        </p:blipFill>
        <p:spPr>
          <a:xfrm>
            <a:off x="589140" y="6118861"/>
            <a:ext cx="11362066" cy="107314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D06B9479-EAE4-19C9-4304-99FA573CCC51}"/>
              </a:ext>
            </a:extLst>
          </p:cNvPr>
          <p:cNvSpPr/>
          <p:nvPr/>
        </p:nvSpPr>
        <p:spPr>
          <a:xfrm>
            <a:off x="3055620" y="6099810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7D98965-4A0D-BA27-2DD8-A25C515E8540}"/>
              </a:ext>
            </a:extLst>
          </p:cNvPr>
          <p:cNvSpPr/>
          <p:nvPr/>
        </p:nvSpPr>
        <p:spPr>
          <a:xfrm>
            <a:off x="5036820" y="609980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67AEF62-2505-1704-D5BC-063992755824}"/>
              </a:ext>
            </a:extLst>
          </p:cNvPr>
          <p:cNvSpPr/>
          <p:nvPr/>
        </p:nvSpPr>
        <p:spPr>
          <a:xfrm>
            <a:off x="7810500" y="609980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213AC10-4AD6-1F42-F3C9-83D7E3DE5824}"/>
              </a:ext>
            </a:extLst>
          </p:cNvPr>
          <p:cNvSpPr/>
          <p:nvPr/>
        </p:nvSpPr>
        <p:spPr>
          <a:xfrm>
            <a:off x="8039100" y="609980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0993E29-DFA9-F4A2-D2C9-DFB01CC4F1F5}"/>
              </a:ext>
            </a:extLst>
          </p:cNvPr>
          <p:cNvSpPr/>
          <p:nvPr/>
        </p:nvSpPr>
        <p:spPr>
          <a:xfrm>
            <a:off x="9151620" y="609980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68E56D0-E3DE-993E-21C5-1E39D3D489E8}"/>
              </a:ext>
            </a:extLst>
          </p:cNvPr>
          <p:cNvSpPr/>
          <p:nvPr/>
        </p:nvSpPr>
        <p:spPr>
          <a:xfrm>
            <a:off x="9936480" y="610361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5720690-EEA2-A8F6-8508-16A89B95DD6F}"/>
              </a:ext>
            </a:extLst>
          </p:cNvPr>
          <p:cNvSpPr/>
          <p:nvPr/>
        </p:nvSpPr>
        <p:spPr>
          <a:xfrm>
            <a:off x="9975344" y="6099810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993FE24-29D3-F83F-2782-FFCED6062325}"/>
              </a:ext>
            </a:extLst>
          </p:cNvPr>
          <p:cNvSpPr/>
          <p:nvPr/>
        </p:nvSpPr>
        <p:spPr>
          <a:xfrm>
            <a:off x="10085834" y="610742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E6A0B60-21F5-5D2B-BFB9-2AD43492B6F2}"/>
              </a:ext>
            </a:extLst>
          </p:cNvPr>
          <p:cNvSpPr/>
          <p:nvPr/>
        </p:nvSpPr>
        <p:spPr>
          <a:xfrm>
            <a:off x="10199370" y="6107429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8EF4135-7B3B-FB2F-E203-4BCE757AF6FC}"/>
              </a:ext>
            </a:extLst>
          </p:cNvPr>
          <p:cNvSpPr/>
          <p:nvPr/>
        </p:nvSpPr>
        <p:spPr>
          <a:xfrm>
            <a:off x="10462260" y="6099808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5DB9BFE-8D9F-4B54-B2C6-619AC2DC288C}"/>
              </a:ext>
            </a:extLst>
          </p:cNvPr>
          <p:cNvSpPr/>
          <p:nvPr/>
        </p:nvSpPr>
        <p:spPr>
          <a:xfrm>
            <a:off x="10575796" y="6099808"/>
            <a:ext cx="129540" cy="129541"/>
          </a:xfrm>
          <a:prstGeom prst="ellipse">
            <a:avLst/>
          </a:prstGeom>
          <a:solidFill>
            <a:srgbClr val="DD7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D9918A8-4777-02D3-3D8D-6C803DC02940}"/>
              </a:ext>
            </a:extLst>
          </p:cNvPr>
          <p:cNvSpPr/>
          <p:nvPr/>
        </p:nvSpPr>
        <p:spPr>
          <a:xfrm>
            <a:off x="9956676" y="6038848"/>
            <a:ext cx="274320" cy="2514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2608C11-FB8B-DF58-4306-5D11F6BF3126}"/>
              </a:ext>
            </a:extLst>
          </p:cNvPr>
          <p:cNvSpPr/>
          <p:nvPr/>
        </p:nvSpPr>
        <p:spPr>
          <a:xfrm>
            <a:off x="10438636" y="6038847"/>
            <a:ext cx="274320" cy="25146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B45A297-2B6C-0E8D-2FD0-2E17B5E0735E}"/>
              </a:ext>
            </a:extLst>
          </p:cNvPr>
          <p:cNvSpPr/>
          <p:nvPr/>
        </p:nvSpPr>
        <p:spPr>
          <a:xfrm>
            <a:off x="1616205" y="4483591"/>
            <a:ext cx="3715880" cy="1020576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Stores illegally deployed AVS with AI to monitor customers' behavior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2023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8684400-6B5B-8663-4579-65C5D7BA6CC9}"/>
              </a:ext>
            </a:extLst>
          </p:cNvPr>
          <p:cNvSpPr/>
          <p:nvPr/>
        </p:nvSpPr>
        <p:spPr>
          <a:xfrm>
            <a:off x="6499495" y="4483591"/>
            <a:ext cx="3715879" cy="1020576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Bill aimed at regulating the use by retailers of automated video analysis tools to combat theft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2026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27" name="Connecteur : en arc 26">
            <a:extLst>
              <a:ext uri="{FF2B5EF4-FFF2-40B4-BE49-F238E27FC236}">
                <a16:creationId xmlns:a16="http://schemas.microsoft.com/office/drawing/2014/main" id="{0FB4E95F-645D-ACE6-5C09-F4A8E1387088}"/>
              </a:ext>
            </a:extLst>
          </p:cNvPr>
          <p:cNvCxnSpPr>
            <a:cxnSpLocks/>
            <a:stCxn id="23" idx="2"/>
            <a:endCxn id="20" idx="0"/>
          </p:cNvCxnSpPr>
          <p:nvPr/>
        </p:nvCxnSpPr>
        <p:spPr>
          <a:xfrm rot="16200000" flipH="1">
            <a:off x="6516650" y="2461661"/>
            <a:ext cx="534681" cy="6619691"/>
          </a:xfrm>
          <a:prstGeom prst="curvedConnector3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 : en arc 36">
            <a:extLst>
              <a:ext uri="{FF2B5EF4-FFF2-40B4-BE49-F238E27FC236}">
                <a16:creationId xmlns:a16="http://schemas.microsoft.com/office/drawing/2014/main" id="{DB73F950-F443-DEE4-9D60-8A6227F16FB7}"/>
              </a:ext>
            </a:extLst>
          </p:cNvPr>
          <p:cNvCxnSpPr>
            <a:cxnSpLocks/>
            <a:stCxn id="25" idx="2"/>
            <a:endCxn id="22" idx="0"/>
          </p:cNvCxnSpPr>
          <p:nvPr/>
        </p:nvCxnSpPr>
        <p:spPr>
          <a:xfrm rot="16200000" flipH="1">
            <a:off x="9199275" y="4662326"/>
            <a:ext cx="534680" cy="2218361"/>
          </a:xfrm>
          <a:prstGeom prst="curvedConnector3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E2526886-649E-D9F7-BAEC-102CE90DBB68}"/>
              </a:ext>
            </a:extLst>
          </p:cNvPr>
          <p:cNvSpPr txBox="1"/>
          <p:nvPr/>
        </p:nvSpPr>
        <p:spPr>
          <a:xfrm>
            <a:off x="809170" y="1691260"/>
            <a:ext cx="1051172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Which data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to train those AI, to demonstrate?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Not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in the Olympic and paralympic games Act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Regulation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after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the first technology’s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Compliant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with AI Act? And the GDPR?</a:t>
            </a:r>
            <a:endParaRPr lang="fr-FR" sz="20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DBEB6E1-5B99-6F7F-8A3B-94C7D9D5149A}"/>
              </a:ext>
            </a:extLst>
          </p:cNvPr>
          <p:cNvSpPr txBox="1"/>
          <p:nvPr/>
        </p:nvSpPr>
        <p:spPr>
          <a:xfrm>
            <a:off x="5101590" y="641730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[11] , [12] , [13] , [14] </a:t>
            </a:r>
          </a:p>
        </p:txBody>
      </p:sp>
    </p:spTree>
    <p:extLst>
      <p:ext uri="{BB962C8B-B14F-4D97-AF65-F5344CB8AC3E}">
        <p14:creationId xmlns:p14="http://schemas.microsoft.com/office/powerpoint/2010/main" val="3074532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84B307D-F6F7-E5F9-36CD-3772399E611E}"/>
              </a:ext>
            </a:extLst>
          </p:cNvPr>
          <p:cNvSpPr txBox="1">
            <a:spLocks/>
          </p:cNvSpPr>
          <p:nvPr/>
        </p:nvSpPr>
        <p:spPr>
          <a:xfrm>
            <a:off x="877565" y="331803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>
                <a:ea typeface="+mj-lt"/>
                <a:cs typeface="+mj-lt"/>
              </a:rPr>
              <a:t>Which</a:t>
            </a:r>
            <a:r>
              <a:rPr lang="fr-FR" dirty="0">
                <a:ea typeface="+mj-lt"/>
                <a:cs typeface="+mj-lt"/>
              </a:rPr>
              <a:t> </a:t>
            </a:r>
            <a:r>
              <a:rPr lang="fr-FR" dirty="0" err="1">
                <a:ea typeface="+mj-lt"/>
                <a:cs typeface="+mj-lt"/>
              </a:rPr>
              <a:t>results</a:t>
            </a:r>
            <a:r>
              <a:rPr lang="fr-FR" dirty="0">
                <a:ea typeface="+mj-lt"/>
                <a:cs typeface="+mj-lt"/>
              </a:rPr>
              <a:t> ?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E6345EA-18F5-D113-BEF4-19A8947F9A51}"/>
              </a:ext>
            </a:extLst>
          </p:cNvPr>
          <p:cNvSpPr txBox="1"/>
          <p:nvPr/>
        </p:nvSpPr>
        <p:spPr>
          <a:xfrm>
            <a:off x="468416" y="1942578"/>
            <a:ext cx="5307544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Public CCTV in France: from the French Court of Auditors (Cour des </a:t>
            </a:r>
            <a:r>
              <a:rPr lang="en-US" b="1" dirty="0" err="1"/>
              <a:t>comptes</a:t>
            </a:r>
            <a:r>
              <a:rPr lang="en-US" b="1" dirty="0"/>
              <a:t>)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Used to support investigations and public-order operations.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No overall correlation</a:t>
            </a:r>
            <a:r>
              <a:rPr lang="en-US" dirty="0"/>
              <a:t> between the presence of CCTV cameras (the level of street crime, or crime resolution rates)</a:t>
            </a:r>
          </a:p>
          <a:p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Highlighted the </a:t>
            </a:r>
            <a:r>
              <a:rPr lang="en-US" b="1" dirty="0"/>
              <a:t>lack of rigorous evaluation methods </a:t>
            </a:r>
            <a:r>
              <a:rPr lang="en-US" dirty="0"/>
              <a:t>and called for more evidence-based assessments of CCTV effectiveness.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i="1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2EC3EAB-B34A-B86F-737A-4F2548F8B4A2}"/>
              </a:ext>
            </a:extLst>
          </p:cNvPr>
          <p:cNvSpPr txBox="1"/>
          <p:nvPr/>
        </p:nvSpPr>
        <p:spPr>
          <a:xfrm>
            <a:off x="5855206" y="196052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Algorithmic Video Surveillance (AVS) Olympic Games 2024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experiment produced </a:t>
            </a:r>
            <a:r>
              <a:rPr lang="en-US" b="1" dirty="0"/>
              <a:t>mixed results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 Good to detect : </a:t>
            </a:r>
            <a:r>
              <a:rPr lang="en-US" dirty="0"/>
              <a:t>intrusion in restricted areas, wrong-way vehicle detection and to monitor controlled environments (metro corridors,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Significant limitations </a:t>
            </a:r>
            <a:r>
              <a:rPr lang="en-US" dirty="0"/>
              <a:t>: high FPR, difficulties </a:t>
            </a:r>
            <a:r>
              <a:rPr lang="en-US" dirty="0" err="1"/>
              <a:t>analysing</a:t>
            </a:r>
            <a:r>
              <a:rPr lang="en-US" dirty="0"/>
              <a:t> dense crowds and to detect abandoned objects in complex environments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 C</a:t>
            </a:r>
            <a:r>
              <a:rPr lang="en-US" dirty="0"/>
              <a:t>oncluded that the limited duration of the experiment and the small number of real incidents </a:t>
            </a:r>
            <a:r>
              <a:rPr lang="en-US" b="1" dirty="0"/>
              <a:t>prevented definitive conclusions </a:t>
            </a:r>
            <a:r>
              <a:rPr lang="en-US" dirty="0"/>
              <a:t>regarding overall effectiveness.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387F9F5-0756-6000-8E99-2CC05233BC1A}"/>
              </a:ext>
            </a:extLst>
          </p:cNvPr>
          <p:cNvSpPr txBox="1"/>
          <p:nvPr/>
        </p:nvSpPr>
        <p:spPr>
          <a:xfrm>
            <a:off x="4629481" y="5925463"/>
            <a:ext cx="1981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[16] , [17] , [18], [30], [31], [32] </a:t>
            </a:r>
          </a:p>
          <a:p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84748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84B307D-F6F7-E5F9-36CD-3772399E611E}"/>
              </a:ext>
            </a:extLst>
          </p:cNvPr>
          <p:cNvSpPr txBox="1">
            <a:spLocks/>
          </p:cNvSpPr>
          <p:nvPr/>
        </p:nvSpPr>
        <p:spPr>
          <a:xfrm>
            <a:off x="877565" y="331803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>
                <a:ea typeface="+mj-lt"/>
                <a:cs typeface="+mj-lt"/>
              </a:rPr>
              <a:t>Regulation</a:t>
            </a:r>
            <a:r>
              <a:rPr lang="fr-FR" dirty="0">
                <a:ea typeface="+mj-lt"/>
                <a:cs typeface="+mj-lt"/>
              </a:rPr>
              <a:t> vs. Reality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E6345EA-18F5-D113-BEF4-19A8947F9A51}"/>
              </a:ext>
            </a:extLst>
          </p:cNvPr>
          <p:cNvSpPr txBox="1"/>
          <p:nvPr/>
        </p:nvSpPr>
        <p:spPr>
          <a:xfrm>
            <a:off x="809170" y="2251536"/>
            <a:ext cx="1051172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Multiple </a:t>
            </a:r>
            <a:r>
              <a:rPr lang="fr-FR" sz="2000" b="1" dirty="0" err="1"/>
              <a:t>texts</a:t>
            </a:r>
            <a:r>
              <a:rPr lang="fr-FR" sz="2000" b="1" dirty="0"/>
              <a:t> </a:t>
            </a:r>
            <a:r>
              <a:rPr lang="fr-FR" sz="2000" dirty="0"/>
              <a:t>(</a:t>
            </a:r>
            <a:r>
              <a:rPr lang="fr-FR" sz="2000" dirty="0" err="1"/>
              <a:t>including</a:t>
            </a:r>
            <a:r>
              <a:rPr lang="fr-FR" sz="2000" dirty="0"/>
              <a:t> bills) to </a:t>
            </a:r>
            <a:r>
              <a:rPr lang="fr-FR" sz="2000" dirty="0" err="1"/>
              <a:t>regulate</a:t>
            </a:r>
            <a:r>
              <a:rPr lang="fr-FR" sz="2000" dirty="0"/>
              <a:t> the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The </a:t>
            </a:r>
            <a:r>
              <a:rPr lang="fr-FR" sz="2000" b="1" dirty="0" err="1"/>
              <a:t>temporary</a:t>
            </a:r>
            <a:r>
              <a:rPr lang="fr-FR" sz="2000" dirty="0"/>
              <a:t> </a:t>
            </a:r>
            <a:r>
              <a:rPr lang="fr-FR" sz="2000" dirty="0" err="1"/>
              <a:t>might</a:t>
            </a:r>
            <a:r>
              <a:rPr lang="fr-FR" sz="2000" dirty="0"/>
              <a:t> </a:t>
            </a:r>
            <a:r>
              <a:rPr lang="fr-FR" sz="2000" dirty="0" err="1"/>
              <a:t>be</a:t>
            </a:r>
            <a:r>
              <a:rPr lang="fr-FR" sz="2000" dirty="0"/>
              <a:t> set in stone at </a:t>
            </a:r>
            <a:r>
              <a:rPr lang="fr-FR" sz="2000" dirty="0" err="1"/>
              <a:t>some</a:t>
            </a:r>
            <a:r>
              <a:rPr lang="fr-FR" sz="2000" dirty="0"/>
              <a:t> point (Olympic Games exception)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 err="1"/>
              <a:t>Context</a:t>
            </a:r>
            <a:r>
              <a:rPr lang="fr-FR" sz="2000" dirty="0"/>
              <a:t> </a:t>
            </a:r>
            <a:r>
              <a:rPr lang="fr-FR" sz="2000" dirty="0" err="1"/>
              <a:t>dependent</a:t>
            </a:r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err="1"/>
              <a:t>However</a:t>
            </a:r>
            <a:r>
              <a:rPr lang="fr-FR" sz="2000" dirty="0"/>
              <a:t>, </a:t>
            </a:r>
            <a:r>
              <a:rPr lang="fr-FR" sz="2000" dirty="0" err="1"/>
              <a:t>most</a:t>
            </a:r>
            <a:r>
              <a:rPr lang="fr-FR" sz="2000" dirty="0"/>
              <a:t> of the AVS are </a:t>
            </a:r>
            <a:r>
              <a:rPr lang="fr-FR" sz="2000" b="1" dirty="0" err="1"/>
              <a:t>illegal</a:t>
            </a:r>
            <a:endParaRPr lang="fr-F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err="1"/>
              <a:t>Tec</a:t>
            </a:r>
            <a:r>
              <a:rPr lang="fr-FR" sz="2000" b="1" dirty="0" err="1"/>
              <a:t>hnology</a:t>
            </a:r>
            <a:r>
              <a:rPr lang="fr-FR" sz="2000" b="1" dirty="0"/>
              <a:t> </a:t>
            </a:r>
            <a:r>
              <a:rPr lang="fr-FR" sz="2000" b="1" dirty="0" err="1"/>
              <a:t>driven</a:t>
            </a:r>
            <a:r>
              <a:rPr lang="fr-FR" sz="2000" b="1" dirty="0"/>
              <a:t> </a:t>
            </a:r>
            <a:r>
              <a:rPr lang="fr-FR" sz="2000" dirty="0">
                <a:sym typeface="Wingdings" panose="05000000000000000000" pitchFamily="2" charset="2"/>
              </a:rPr>
              <a:t> </a:t>
            </a:r>
            <a:r>
              <a:rPr lang="fr-FR" sz="2000" dirty="0" err="1">
                <a:sym typeface="Wingdings" panose="05000000000000000000" pitchFamily="2" charset="2"/>
              </a:rPr>
              <a:t>some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illegal</a:t>
            </a:r>
            <a:r>
              <a:rPr lang="fr-FR" sz="2000" dirty="0">
                <a:sym typeface="Wingdings" panose="05000000000000000000" pitchFamily="2" charset="2"/>
              </a:rPr>
              <a:t> usages can </a:t>
            </a:r>
            <a:r>
              <a:rPr lang="fr-FR" sz="2000" dirty="0" err="1">
                <a:sym typeface="Wingdings" panose="05000000000000000000" pitchFamily="2" charset="2"/>
              </a:rPr>
              <a:t>be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done</a:t>
            </a:r>
            <a:r>
              <a:rPr lang="fr-FR" sz="2000" dirty="0">
                <a:sym typeface="Wingdings" panose="05000000000000000000" pitchFamily="2" charset="2"/>
              </a:rPr>
              <a:t> (</a:t>
            </a:r>
            <a:r>
              <a:rPr lang="fr-FR" sz="2000" dirty="0" err="1">
                <a:sym typeface="Wingdings" panose="05000000000000000000" pitchFamily="2" charset="2"/>
              </a:rPr>
              <a:t>what</a:t>
            </a:r>
            <a:r>
              <a:rPr lang="fr-FR" sz="2000" dirty="0">
                <a:sym typeface="Wingdings" panose="05000000000000000000" pitchFamily="2" charset="2"/>
              </a:rPr>
              <a:t> about « </a:t>
            </a:r>
            <a:r>
              <a:rPr lang="fr-FR" sz="2000" dirty="0" err="1">
                <a:sym typeface="Wingdings" panose="05000000000000000000" pitchFamily="2" charset="2"/>
              </a:rPr>
              <a:t>personal</a:t>
            </a:r>
            <a:r>
              <a:rPr lang="fr-FR" sz="2000" dirty="0">
                <a:sym typeface="Wingdings" panose="05000000000000000000" pitchFamily="2" charset="2"/>
              </a:rPr>
              <a:t> » AVS </a:t>
            </a:r>
            <a:r>
              <a:rPr lang="fr-FR" sz="2000" dirty="0" err="1">
                <a:sym typeface="Wingdings" panose="05000000000000000000" pitchFamily="2" charset="2"/>
              </a:rPr>
              <a:t>such</a:t>
            </a:r>
            <a:r>
              <a:rPr lang="fr-FR" sz="2000" dirty="0">
                <a:sym typeface="Wingdings" panose="05000000000000000000" pitchFamily="2" charset="2"/>
              </a:rPr>
              <a:t> as Meta glasses ?)</a:t>
            </a:r>
            <a:r>
              <a:rPr lang="fr-F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2549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84B307D-F6F7-E5F9-36CD-3772399E611E}"/>
              </a:ext>
            </a:extLst>
          </p:cNvPr>
          <p:cNvSpPr txBox="1">
            <a:spLocks/>
          </p:cNvSpPr>
          <p:nvPr/>
        </p:nvSpPr>
        <p:spPr>
          <a:xfrm>
            <a:off x="838229" y="-3990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>
                <a:ea typeface="+mj-lt"/>
                <a:cs typeface="+mj-lt"/>
              </a:rPr>
              <a:t>Regulation</a:t>
            </a:r>
            <a:r>
              <a:rPr lang="fr-FR" dirty="0">
                <a:ea typeface="+mj-lt"/>
                <a:cs typeface="+mj-lt"/>
              </a:rPr>
              <a:t> vs. Reality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77F75E7-5299-A79D-C850-72921DF9250A}"/>
              </a:ext>
            </a:extLst>
          </p:cNvPr>
          <p:cNvSpPr txBox="1"/>
          <p:nvPr/>
        </p:nvSpPr>
        <p:spPr>
          <a:xfrm>
            <a:off x="877824" y="732787"/>
            <a:ext cx="80214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 err="1">
                <a:latin typeface="Walbaum Display"/>
                <a:ea typeface="+mn-lt"/>
                <a:cs typeface="+mn-lt"/>
              </a:rPr>
              <a:t>Regulatory</a:t>
            </a:r>
            <a:r>
              <a:rPr lang="fr-FR" dirty="0">
                <a:latin typeface="Walbaum Display"/>
                <a:ea typeface="+mn-lt"/>
                <a:cs typeface="+mn-lt"/>
              </a:rPr>
              <a:t> </a:t>
            </a:r>
            <a:r>
              <a:rPr lang="fr-FR" dirty="0" err="1">
                <a:latin typeface="Walbaum Display"/>
                <a:ea typeface="+mn-lt"/>
                <a:cs typeface="+mn-lt"/>
              </a:rPr>
              <a:t>context</a:t>
            </a:r>
            <a:endParaRPr lang="fr-FR" b="1" dirty="0">
              <a:latin typeface="Walbaum Display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A784D3-670C-C36F-1463-EC46993C4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9674D7F-8395-9EF1-0F31-2E8A1842D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02119"/>
            <a:ext cx="10894088" cy="538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75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E9518EC7-F254-6007-21CC-3038DCC1B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02119"/>
            <a:ext cx="10894088" cy="5382197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622FF02F-4DFB-0285-BEBB-9E8144B7EF4C}"/>
              </a:ext>
            </a:extLst>
          </p:cNvPr>
          <p:cNvSpPr/>
          <p:nvPr/>
        </p:nvSpPr>
        <p:spPr>
          <a:xfrm>
            <a:off x="9380418" y="994572"/>
            <a:ext cx="2368297" cy="23622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C7CF178-31B6-1F6A-6954-7A7EE6398633}"/>
              </a:ext>
            </a:extLst>
          </p:cNvPr>
          <p:cNvSpPr txBox="1"/>
          <p:nvPr/>
        </p:nvSpPr>
        <p:spPr>
          <a:xfrm>
            <a:off x="8771021" y="625239"/>
            <a:ext cx="3363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« </a:t>
            </a:r>
            <a:r>
              <a:rPr lang="fr-FR" dirty="0" err="1">
                <a:solidFill>
                  <a:srgbClr val="FF0000"/>
                </a:solidFill>
              </a:rPr>
              <a:t>Upststream</a:t>
            </a:r>
            <a:r>
              <a:rPr lang="fr-FR" dirty="0">
                <a:solidFill>
                  <a:srgbClr val="FF0000"/>
                </a:solidFill>
              </a:rPr>
              <a:t> » </a:t>
            </a:r>
            <a:r>
              <a:rPr lang="fr-FR" dirty="0" err="1">
                <a:solidFill>
                  <a:srgbClr val="FF0000"/>
                </a:solidFill>
              </a:rPr>
              <a:t>regulation</a:t>
            </a:r>
            <a:r>
              <a:rPr lang="fr-FR" dirty="0">
                <a:solidFill>
                  <a:srgbClr val="FF0000"/>
                </a:solidFill>
              </a:rPr>
              <a:t> (AI </a:t>
            </a:r>
            <a:r>
              <a:rPr lang="fr-FR" dirty="0" err="1">
                <a:solidFill>
                  <a:srgbClr val="FF0000"/>
                </a:solidFill>
              </a:rPr>
              <a:t>Act</a:t>
            </a:r>
            <a:r>
              <a:rPr lang="fr-FR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0C8A9F9A-E3B0-5A72-300F-C94E8133CADF}"/>
              </a:ext>
            </a:extLst>
          </p:cNvPr>
          <p:cNvSpPr txBox="1">
            <a:spLocks/>
          </p:cNvSpPr>
          <p:nvPr/>
        </p:nvSpPr>
        <p:spPr>
          <a:xfrm>
            <a:off x="838229" y="-3990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>
                <a:ea typeface="+mj-lt"/>
                <a:cs typeface="+mj-lt"/>
              </a:rPr>
              <a:t>Regulation</a:t>
            </a:r>
            <a:r>
              <a:rPr lang="fr-FR" dirty="0">
                <a:ea typeface="+mj-lt"/>
                <a:cs typeface="+mj-lt"/>
              </a:rPr>
              <a:t> vs. Reality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0A3423A-AB3A-86F9-51B6-EB095963000B}"/>
              </a:ext>
            </a:extLst>
          </p:cNvPr>
          <p:cNvSpPr txBox="1"/>
          <p:nvPr/>
        </p:nvSpPr>
        <p:spPr>
          <a:xfrm>
            <a:off x="877824" y="732787"/>
            <a:ext cx="80214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 err="1">
                <a:latin typeface="Walbaum Display"/>
                <a:ea typeface="+mn-lt"/>
                <a:cs typeface="+mn-lt"/>
              </a:rPr>
              <a:t>Who</a:t>
            </a:r>
            <a:r>
              <a:rPr lang="fr-FR" dirty="0">
                <a:latin typeface="Walbaum Display"/>
                <a:ea typeface="+mn-lt"/>
                <a:cs typeface="+mn-lt"/>
              </a:rPr>
              <a:t> propose </a:t>
            </a:r>
            <a:r>
              <a:rPr lang="fr-FR" dirty="0" err="1">
                <a:latin typeface="Walbaum Display"/>
                <a:ea typeface="+mn-lt"/>
                <a:cs typeface="+mn-lt"/>
              </a:rPr>
              <a:t>regulation</a:t>
            </a:r>
            <a:r>
              <a:rPr lang="fr-FR" dirty="0">
                <a:latin typeface="Walbaum Display"/>
                <a:ea typeface="+mn-lt"/>
                <a:cs typeface="+mn-lt"/>
              </a:rPr>
              <a:t> ?</a:t>
            </a:r>
            <a:endParaRPr lang="fr-FR" b="1" dirty="0">
              <a:latin typeface="Walbaum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9741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1398E300-7EED-B9AC-C348-02375899E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02119"/>
            <a:ext cx="10894088" cy="5382197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622FF02F-4DFB-0285-BEBB-9E8144B7EF4C}"/>
              </a:ext>
            </a:extLst>
          </p:cNvPr>
          <p:cNvSpPr/>
          <p:nvPr/>
        </p:nvSpPr>
        <p:spPr>
          <a:xfrm>
            <a:off x="5235824" y="1902753"/>
            <a:ext cx="2771192" cy="213560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C7CF178-31B6-1F6A-6954-7A7EE6398633}"/>
              </a:ext>
            </a:extLst>
          </p:cNvPr>
          <p:cNvSpPr txBox="1"/>
          <p:nvPr/>
        </p:nvSpPr>
        <p:spPr>
          <a:xfrm>
            <a:off x="5336005" y="1339560"/>
            <a:ext cx="4403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Country-</a:t>
            </a:r>
            <a:r>
              <a:rPr lang="fr-FR" dirty="0" err="1">
                <a:solidFill>
                  <a:srgbClr val="FF0000"/>
                </a:solidFill>
              </a:rPr>
              <a:t>based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regulation</a:t>
            </a:r>
            <a:r>
              <a:rPr lang="fr-FR" dirty="0">
                <a:solidFill>
                  <a:srgbClr val="FF0000"/>
                </a:solidFill>
              </a:rPr>
              <a:t> (Olympic Games)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201465C-B55E-C211-D864-C08A49E69C46}"/>
              </a:ext>
            </a:extLst>
          </p:cNvPr>
          <p:cNvSpPr/>
          <p:nvPr/>
        </p:nvSpPr>
        <p:spPr>
          <a:xfrm>
            <a:off x="3204492" y="5023184"/>
            <a:ext cx="2771192" cy="82191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C93C2D0-1290-F2A5-98EC-00442CC41BBB}"/>
              </a:ext>
            </a:extLst>
          </p:cNvPr>
          <p:cNvSpPr txBox="1">
            <a:spLocks/>
          </p:cNvSpPr>
          <p:nvPr/>
        </p:nvSpPr>
        <p:spPr>
          <a:xfrm>
            <a:off x="838229" y="-3990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>
                <a:ea typeface="+mj-lt"/>
                <a:cs typeface="+mj-lt"/>
              </a:rPr>
              <a:t>Regulation</a:t>
            </a:r>
            <a:r>
              <a:rPr lang="fr-FR" dirty="0">
                <a:ea typeface="+mj-lt"/>
                <a:cs typeface="+mj-lt"/>
              </a:rPr>
              <a:t> vs. Reality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DC7B45B-8FE6-6CD0-5AF1-5EC6DFAB6435}"/>
              </a:ext>
            </a:extLst>
          </p:cNvPr>
          <p:cNvSpPr txBox="1"/>
          <p:nvPr/>
        </p:nvSpPr>
        <p:spPr>
          <a:xfrm>
            <a:off x="877824" y="732787"/>
            <a:ext cx="80214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 err="1">
                <a:latin typeface="Walbaum Display"/>
                <a:ea typeface="+mn-lt"/>
                <a:cs typeface="+mn-lt"/>
              </a:rPr>
              <a:t>Who</a:t>
            </a:r>
            <a:r>
              <a:rPr lang="fr-FR" dirty="0">
                <a:latin typeface="Walbaum Display"/>
                <a:ea typeface="+mn-lt"/>
                <a:cs typeface="+mn-lt"/>
              </a:rPr>
              <a:t> propose </a:t>
            </a:r>
            <a:r>
              <a:rPr lang="fr-FR" dirty="0" err="1">
                <a:latin typeface="Walbaum Display"/>
                <a:ea typeface="+mn-lt"/>
                <a:cs typeface="+mn-lt"/>
              </a:rPr>
              <a:t>regulation</a:t>
            </a:r>
            <a:r>
              <a:rPr lang="fr-FR" dirty="0">
                <a:latin typeface="Walbaum Display"/>
                <a:ea typeface="+mn-lt"/>
                <a:cs typeface="+mn-lt"/>
              </a:rPr>
              <a:t> ?</a:t>
            </a:r>
            <a:endParaRPr lang="fr-FR" b="1" dirty="0">
              <a:latin typeface="Walbaum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12350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F4CD336A-F93E-105C-98FA-BA7D0B31F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02119"/>
            <a:ext cx="10894088" cy="5382197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12</a:t>
            </a:fld>
            <a:endParaRPr lang="en-US" dirty="0"/>
          </a:p>
        </p:txBody>
      </p:sp>
      <p:pic>
        <p:nvPicPr>
          <p:cNvPr id="1026" name="Picture 2" descr="marque de croix png 21115766 PNG">
            <a:extLst>
              <a:ext uri="{FF2B5EF4-FFF2-40B4-BE49-F238E27FC236}">
                <a16:creationId xmlns:a16="http://schemas.microsoft.com/office/drawing/2014/main" id="{36D55EC3-6CB4-27E6-8636-F51AB9B47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090" y="2250886"/>
            <a:ext cx="1305426" cy="130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813C2FC6-ED44-FE06-3805-D4C52519FDDD}"/>
              </a:ext>
            </a:extLst>
          </p:cNvPr>
          <p:cNvSpPr txBox="1">
            <a:spLocks/>
          </p:cNvSpPr>
          <p:nvPr/>
        </p:nvSpPr>
        <p:spPr>
          <a:xfrm>
            <a:off x="838229" y="-3990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>
                <a:ea typeface="+mj-lt"/>
                <a:cs typeface="+mj-lt"/>
              </a:rPr>
              <a:t>Regulation</a:t>
            </a:r>
            <a:r>
              <a:rPr lang="fr-FR" dirty="0">
                <a:ea typeface="+mj-lt"/>
                <a:cs typeface="+mj-lt"/>
              </a:rPr>
              <a:t> vs. Reality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3D4F60B-5A5F-A5EB-E3C3-78E912E2A49B}"/>
              </a:ext>
            </a:extLst>
          </p:cNvPr>
          <p:cNvSpPr txBox="1"/>
          <p:nvPr/>
        </p:nvSpPr>
        <p:spPr>
          <a:xfrm>
            <a:off x="877824" y="732787"/>
            <a:ext cx="80214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 err="1">
                <a:latin typeface="Walbaum Display"/>
                <a:ea typeface="+mn-lt"/>
                <a:cs typeface="+mn-lt"/>
              </a:rPr>
              <a:t>Who</a:t>
            </a:r>
            <a:r>
              <a:rPr lang="fr-FR" dirty="0">
                <a:latin typeface="Walbaum Display"/>
                <a:ea typeface="+mn-lt"/>
                <a:cs typeface="+mn-lt"/>
              </a:rPr>
              <a:t> propose </a:t>
            </a:r>
            <a:r>
              <a:rPr lang="fr-FR" dirty="0" err="1">
                <a:latin typeface="Walbaum Display"/>
                <a:ea typeface="+mn-lt"/>
                <a:cs typeface="+mn-lt"/>
              </a:rPr>
              <a:t>regulation</a:t>
            </a:r>
            <a:r>
              <a:rPr lang="fr-FR" dirty="0">
                <a:latin typeface="Walbaum Display"/>
                <a:ea typeface="+mn-lt"/>
                <a:cs typeface="+mn-lt"/>
              </a:rPr>
              <a:t> ?</a:t>
            </a:r>
            <a:endParaRPr lang="fr-FR" b="1" dirty="0">
              <a:latin typeface="Walbaum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59569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E9E7B-A5A2-BF12-7D6F-FFAEED6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37EB-D949-41F1-B374-37164EF71FE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5B557-19BF-0C0A-2FA0-4C6824AC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50119-8F1A-AF1A-82BB-241273AA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13</a:t>
            </a:fld>
            <a:endParaRPr lang="en-US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84B307D-F6F7-E5F9-36CD-3772399E611E}"/>
              </a:ext>
            </a:extLst>
          </p:cNvPr>
          <p:cNvSpPr txBox="1">
            <a:spLocks/>
          </p:cNvSpPr>
          <p:nvPr/>
        </p:nvSpPr>
        <p:spPr>
          <a:xfrm>
            <a:off x="877565" y="331803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ea typeface="+mj-lt"/>
                <a:cs typeface="+mj-lt"/>
              </a:rPr>
              <a:t>Surveillance techniques’ </a:t>
            </a:r>
            <a:r>
              <a:rPr lang="fr-FR" dirty="0" err="1">
                <a:ea typeface="+mj-lt"/>
                <a:cs typeface="+mj-lt"/>
              </a:rPr>
              <a:t>evaluation</a:t>
            </a:r>
            <a:endParaRPr lang="fr-FR" dirty="0"/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C6249EEC-835A-96F4-6650-DCB433F55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0952631"/>
              </p:ext>
            </p:extLst>
          </p:nvPr>
        </p:nvGraphicFramePr>
        <p:xfrm>
          <a:off x="5658764" y="1145698"/>
          <a:ext cx="5405476" cy="5448558"/>
        </p:xfrm>
        <a:graphic>
          <a:graphicData uri="http://schemas.openxmlformats.org/drawingml/2006/table">
            <a:tbl>
              <a:tblPr/>
              <a:tblGrid>
                <a:gridCol w="2702738">
                  <a:extLst>
                    <a:ext uri="{9D8B030D-6E8A-4147-A177-3AD203B41FA5}">
                      <a16:colId xmlns:a16="http://schemas.microsoft.com/office/drawing/2014/main" val="3749042752"/>
                    </a:ext>
                  </a:extLst>
                </a:gridCol>
                <a:gridCol w="2702738">
                  <a:extLst>
                    <a:ext uri="{9D8B030D-6E8A-4147-A177-3AD203B41FA5}">
                      <a16:colId xmlns:a16="http://schemas.microsoft.com/office/drawing/2014/main" val="292463448"/>
                    </a:ext>
                  </a:extLst>
                </a:gridCol>
              </a:tblGrid>
              <a:tr h="390425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C. </a:t>
                      </a:r>
                      <a:r>
                        <a:rPr lang="fr-FR" sz="1200" dirty="0" err="1">
                          <a:effectLst/>
                        </a:rPr>
                        <a:t>Collect</a:t>
                      </a:r>
                      <a:r>
                        <a:rPr lang="fr-FR" sz="1200" dirty="0">
                          <a:effectLst/>
                        </a:rPr>
                        <a:t> or G. </a:t>
                      </a:r>
                      <a:r>
                        <a:rPr lang="fr-FR" sz="1200" dirty="0" err="1">
                          <a:effectLst/>
                        </a:rPr>
                        <a:t>Generation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1. Target (</a:t>
                      </a:r>
                      <a:r>
                        <a:rPr lang="fr-FR" sz="1200" dirty="0" err="1">
                          <a:effectLst/>
                        </a:rPr>
                        <a:t>who</a:t>
                      </a:r>
                      <a:r>
                        <a:rPr lang="fr-FR" sz="12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264200"/>
                  </a:ext>
                </a:extLst>
              </a:tr>
              <a:tr h="39042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2. Duration (</a:t>
                      </a:r>
                      <a:r>
                        <a:rPr lang="fr-FR" sz="1200" dirty="0" err="1">
                          <a:effectLst/>
                        </a:rPr>
                        <a:t>when</a:t>
                      </a:r>
                      <a:r>
                        <a:rPr lang="fr-FR" sz="12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236828"/>
                  </a:ext>
                </a:extLst>
              </a:tr>
              <a:tr h="39042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3. </a:t>
                      </a:r>
                      <a:r>
                        <a:rPr lang="fr-FR" sz="1200" dirty="0" err="1">
                          <a:effectLst/>
                        </a:rPr>
                        <a:t>Materiality</a:t>
                      </a:r>
                      <a:r>
                        <a:rPr lang="fr-FR" sz="1200" dirty="0">
                          <a:effectLst/>
                        </a:rPr>
                        <a:t> (how)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846992"/>
                  </a:ext>
                </a:extLst>
              </a:tr>
              <a:tr h="63331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4. Type (</a:t>
                      </a:r>
                      <a:r>
                        <a:rPr lang="fr-FR" sz="1200" dirty="0" err="1">
                          <a:effectLst/>
                        </a:rPr>
                        <a:t>where</a:t>
                      </a:r>
                      <a:r>
                        <a:rPr lang="fr-FR" sz="1200" dirty="0">
                          <a:effectLst/>
                        </a:rPr>
                        <a:t> and </a:t>
                      </a:r>
                      <a:r>
                        <a:rPr lang="fr-FR" sz="1200" dirty="0" err="1">
                          <a:effectLst/>
                        </a:rPr>
                        <a:t>what</a:t>
                      </a:r>
                      <a:r>
                        <a:rPr lang="fr-FR" sz="12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402999"/>
                  </a:ext>
                </a:extLst>
              </a:tr>
              <a:tr h="52056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S. Storage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1. Duration (</a:t>
                      </a:r>
                      <a:r>
                        <a:rPr lang="fr-FR" sz="1200" dirty="0" err="1">
                          <a:effectLst/>
                        </a:rPr>
                        <a:t>when</a:t>
                      </a:r>
                      <a:r>
                        <a:rPr lang="fr-FR" sz="12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738773"/>
                  </a:ext>
                </a:extLst>
              </a:tr>
              <a:tr h="52056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2. </a:t>
                      </a:r>
                      <a:r>
                        <a:rPr lang="fr-FR" sz="1200" dirty="0" err="1">
                          <a:effectLst/>
                        </a:rPr>
                        <a:t>Acces</a:t>
                      </a:r>
                      <a:r>
                        <a:rPr lang="fr-FR" sz="1200" dirty="0">
                          <a:effectLst/>
                        </a:rPr>
                        <a:t> (</a:t>
                      </a:r>
                      <a:r>
                        <a:rPr lang="fr-FR" sz="1200" dirty="0" err="1">
                          <a:effectLst/>
                        </a:rPr>
                        <a:t>who</a:t>
                      </a:r>
                      <a:r>
                        <a:rPr lang="fr-FR" sz="12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105271"/>
                  </a:ext>
                </a:extLst>
              </a:tr>
              <a:tr h="39042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3. Storage (</a:t>
                      </a:r>
                      <a:r>
                        <a:rPr lang="fr-FR" sz="1200" dirty="0" err="1">
                          <a:effectLst/>
                        </a:rPr>
                        <a:t>where</a:t>
                      </a:r>
                      <a:r>
                        <a:rPr lang="fr-FR" sz="12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720159"/>
                  </a:ext>
                </a:extLst>
              </a:tr>
              <a:tr h="39042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4. </a:t>
                      </a:r>
                      <a:r>
                        <a:rPr lang="fr-FR" sz="1200" dirty="0" err="1">
                          <a:effectLst/>
                        </a:rPr>
                        <a:t>Materiality</a:t>
                      </a:r>
                      <a:r>
                        <a:rPr lang="fr-FR" sz="1200" dirty="0">
                          <a:effectLst/>
                        </a:rPr>
                        <a:t> (how)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140918"/>
                  </a:ext>
                </a:extLst>
              </a:tr>
              <a:tr h="26028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A. Analyse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1. Date (</a:t>
                      </a:r>
                      <a:r>
                        <a:rPr lang="fr-FR" sz="1200" dirty="0" err="1">
                          <a:effectLst/>
                        </a:rPr>
                        <a:t>when</a:t>
                      </a:r>
                      <a:r>
                        <a:rPr lang="fr-FR" sz="12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536947"/>
                  </a:ext>
                </a:extLst>
              </a:tr>
              <a:tr h="39042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2. </a:t>
                      </a:r>
                      <a:r>
                        <a:rPr lang="fr-FR" sz="1200" dirty="0" err="1">
                          <a:effectLst/>
                        </a:rPr>
                        <a:t>Treatment</a:t>
                      </a:r>
                      <a:r>
                        <a:rPr lang="fr-FR" sz="1200" dirty="0">
                          <a:effectLst/>
                        </a:rPr>
                        <a:t> (</a:t>
                      </a:r>
                      <a:r>
                        <a:rPr lang="fr-FR" sz="1200" dirty="0" err="1">
                          <a:effectLst/>
                        </a:rPr>
                        <a:t>where</a:t>
                      </a:r>
                      <a:r>
                        <a:rPr lang="fr-FR" sz="12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722044"/>
                  </a:ext>
                </a:extLst>
              </a:tr>
              <a:tr h="39042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3. </a:t>
                      </a:r>
                      <a:r>
                        <a:rPr lang="fr-FR" sz="1200" dirty="0" err="1">
                          <a:effectLst/>
                        </a:rPr>
                        <a:t>Treatment</a:t>
                      </a:r>
                      <a:r>
                        <a:rPr lang="fr-FR" sz="1200" dirty="0">
                          <a:effectLst/>
                        </a:rPr>
                        <a:t> (</a:t>
                      </a:r>
                      <a:r>
                        <a:rPr lang="fr-FR" sz="1200" dirty="0" err="1">
                          <a:effectLst/>
                        </a:rPr>
                        <a:t>who</a:t>
                      </a:r>
                      <a:r>
                        <a:rPr lang="fr-FR" sz="12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11789"/>
                  </a:ext>
                </a:extLst>
              </a:tr>
              <a:tr h="78085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dirty="0">
                          <a:effectLst/>
                        </a:rPr>
                        <a:t>4. Goals (</a:t>
                      </a:r>
                      <a:r>
                        <a:rPr lang="fr-FR" sz="1200" dirty="0" err="1">
                          <a:effectLst/>
                        </a:rPr>
                        <a:t>what</a:t>
                      </a:r>
                      <a:r>
                        <a:rPr lang="fr-FR" sz="12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060512"/>
                  </a:ext>
                </a:extLst>
              </a:tr>
            </a:tbl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A2DFD0CB-45F3-AEBF-9F1E-9044381CBD6D}"/>
              </a:ext>
            </a:extLst>
          </p:cNvPr>
          <p:cNvSpPr txBox="1"/>
          <p:nvPr/>
        </p:nvSpPr>
        <p:spPr>
          <a:xfrm>
            <a:off x="1127760" y="1858198"/>
            <a:ext cx="416524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err="1"/>
              <a:t>Legality</a:t>
            </a:r>
            <a:r>
              <a:rPr lang="fr-FR" sz="2000" dirty="0"/>
              <a:t> (</a:t>
            </a:r>
            <a:r>
              <a:rPr lang="fr-FR" sz="2000" dirty="0" err="1"/>
              <a:t>text</a:t>
            </a:r>
            <a:r>
              <a:rPr lang="fr-FR" sz="2000" dirty="0"/>
              <a:t> </a:t>
            </a:r>
            <a:r>
              <a:rPr lang="fr-FR" sz="2000" dirty="0" err="1"/>
              <a:t>regulating</a:t>
            </a:r>
            <a:r>
              <a:rPr lang="fr-FR" sz="2000" dirty="0"/>
              <a:t> the technique)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err="1"/>
              <a:t>Independant</a:t>
            </a:r>
            <a:r>
              <a:rPr lang="fr-FR" sz="2000" dirty="0"/>
              <a:t> supervision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err="1"/>
              <a:t>Transparency</a:t>
            </a:r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Remedies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err="1"/>
              <a:t>Impacted</a:t>
            </a:r>
            <a:r>
              <a:rPr lang="fr-FR" sz="2000" dirty="0"/>
              <a:t> </a:t>
            </a:r>
            <a:r>
              <a:rPr lang="fr-FR" sz="2000" dirty="0" err="1"/>
              <a:t>fundamental</a:t>
            </a:r>
            <a:r>
              <a:rPr lang="fr-FR" sz="2000" dirty="0"/>
              <a:t> right(s)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Success rate (</a:t>
            </a:r>
            <a:r>
              <a:rPr lang="fr-FR" sz="2000" dirty="0" err="1"/>
              <a:t>technological</a:t>
            </a:r>
            <a:r>
              <a:rPr lang="fr-FR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Any report (</a:t>
            </a:r>
            <a:r>
              <a:rPr lang="fr-FR" sz="2000" dirty="0" err="1"/>
              <a:t>other</a:t>
            </a:r>
            <a:r>
              <a:rPr lang="fr-FR" sz="2000" dirty="0"/>
              <a:t> </a:t>
            </a:r>
            <a:r>
              <a:rPr lang="fr-FR" sz="2000" dirty="0" err="1"/>
              <a:t>domain</a:t>
            </a:r>
            <a:r>
              <a:rPr lang="fr-FR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err="1"/>
              <a:t>Possibility</a:t>
            </a:r>
            <a:r>
              <a:rPr lang="fr-FR" sz="2000" dirty="0"/>
              <a:t> of </a:t>
            </a:r>
            <a:r>
              <a:rPr lang="fr-FR" sz="2000" dirty="0" err="1"/>
              <a:t>connection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other</a:t>
            </a:r>
            <a:r>
              <a:rPr lang="fr-FR" sz="2000" dirty="0"/>
              <a:t> </a:t>
            </a:r>
            <a:r>
              <a:rPr lang="fr-FR" sz="2000" dirty="0" err="1"/>
              <a:t>database</a:t>
            </a:r>
            <a:r>
              <a:rPr lang="fr-FR" sz="2000" dirty="0"/>
              <a:t> (</a:t>
            </a:r>
            <a:r>
              <a:rPr lang="fr-FR" sz="2000" dirty="0" err="1"/>
              <a:t>ease</a:t>
            </a:r>
            <a:r>
              <a:rPr lang="fr-FR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Use of AI (</a:t>
            </a:r>
            <a:r>
              <a:rPr lang="fr-FR" sz="2000" dirty="0" err="1"/>
              <a:t>ease</a:t>
            </a:r>
            <a:r>
              <a:rPr lang="fr-FR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2F2AAA-EC59-BB6E-FA18-4BD5EFD461AA}"/>
              </a:ext>
            </a:extLst>
          </p:cNvPr>
          <p:cNvSpPr txBox="1">
            <a:spLocks/>
          </p:cNvSpPr>
          <p:nvPr/>
        </p:nvSpPr>
        <p:spPr>
          <a:xfrm>
            <a:off x="518565" y="5404439"/>
            <a:ext cx="4541115" cy="1582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000" dirty="0"/>
              <a:t>Credit : Some of </a:t>
            </a:r>
            <a:r>
              <a:rPr lang="fr-FR" sz="1000" dirty="0" err="1"/>
              <a:t>those</a:t>
            </a:r>
            <a:r>
              <a:rPr lang="fr-FR" sz="1000" dirty="0"/>
              <a:t> </a:t>
            </a:r>
            <a:r>
              <a:rPr lang="fr-FR" sz="1000" dirty="0" err="1"/>
              <a:t>criterias</a:t>
            </a:r>
            <a:r>
              <a:rPr lang="fr-FR" sz="1000" dirty="0"/>
              <a:t> come </a:t>
            </a:r>
            <a:r>
              <a:rPr lang="fr-FR" sz="1000" dirty="0" err="1"/>
              <a:t>from</a:t>
            </a:r>
            <a:r>
              <a:rPr lang="fr-FR" sz="1000" dirty="0"/>
              <a:t> Elia </a:t>
            </a:r>
            <a:r>
              <a:rPr lang="fr-FR" sz="1000" dirty="0" err="1"/>
              <a:t>Verdon’s</a:t>
            </a:r>
            <a:r>
              <a:rPr lang="fr-FR" sz="1000" dirty="0"/>
              <a:t> </a:t>
            </a:r>
            <a:r>
              <a:rPr lang="fr-FR" sz="1000" dirty="0" err="1"/>
              <a:t>work</a:t>
            </a:r>
            <a:r>
              <a:rPr lang="fr-FR" sz="1000" dirty="0"/>
              <a:t> (big </a:t>
            </a:r>
            <a:r>
              <a:rPr lang="fr-FR" sz="1000" dirty="0" err="1"/>
              <a:t>thanks</a:t>
            </a:r>
            <a:r>
              <a:rPr lang="fr-FR" sz="1000" dirty="0"/>
              <a:t> to </a:t>
            </a:r>
            <a:r>
              <a:rPr lang="fr-FR" sz="1000" dirty="0" err="1"/>
              <a:t>her</a:t>
            </a:r>
            <a:r>
              <a:rPr lang="fr-FR" sz="1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4295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68ED-5A40-E2A4-8F31-93C4AB01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1AA369-78BA-0289-A8DC-01E611D5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3" y="1456944"/>
            <a:ext cx="6804101" cy="466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000" dirty="0" err="1"/>
              <a:t>Numerous</a:t>
            </a:r>
            <a:r>
              <a:rPr lang="fr-FR" sz="2000" dirty="0"/>
              <a:t> </a:t>
            </a:r>
            <a:r>
              <a:rPr lang="fr-FR" sz="2000" dirty="0" err="1"/>
              <a:t>criterias</a:t>
            </a:r>
            <a:endParaRPr lang="fr-FR" sz="2000" dirty="0"/>
          </a:p>
          <a:p>
            <a:r>
              <a:rPr lang="fr-FR" sz="2000" dirty="0" err="1"/>
              <a:t>Context</a:t>
            </a:r>
            <a:r>
              <a:rPr lang="fr-FR" sz="2000" dirty="0"/>
              <a:t> </a:t>
            </a:r>
            <a:r>
              <a:rPr lang="fr-FR" sz="2000" dirty="0" err="1"/>
              <a:t>dependent</a:t>
            </a:r>
            <a:endParaRPr lang="fr-FR" sz="2000" dirty="0"/>
          </a:p>
          <a:p>
            <a:r>
              <a:rPr lang="fr-FR" sz="2000" dirty="0"/>
              <a:t>(At best) </a:t>
            </a:r>
            <a:r>
              <a:rPr lang="fr-FR" sz="2000" dirty="0" err="1"/>
              <a:t>mitigated</a:t>
            </a:r>
            <a:r>
              <a:rPr lang="fr-FR" sz="2000" dirty="0"/>
              <a:t> </a:t>
            </a:r>
            <a:r>
              <a:rPr lang="fr-FR" sz="2000" dirty="0" err="1"/>
              <a:t>results</a:t>
            </a:r>
            <a:endParaRPr lang="fr-FR" sz="2000" dirty="0"/>
          </a:p>
          <a:p>
            <a:r>
              <a:rPr lang="fr-FR" sz="2000" dirty="0" err="1"/>
              <a:t>Lack</a:t>
            </a:r>
            <a:r>
              <a:rPr lang="fr-FR" sz="2000" dirty="0"/>
              <a:t> of </a:t>
            </a:r>
            <a:r>
              <a:rPr lang="fr-FR" sz="2000" dirty="0" err="1"/>
              <a:t>assessment</a:t>
            </a:r>
            <a:r>
              <a:rPr lang="fr-FR" sz="2000" dirty="0"/>
              <a:t> </a:t>
            </a:r>
            <a:r>
              <a:rPr lang="fr-FR" sz="2000" dirty="0" err="1"/>
              <a:t>methods</a:t>
            </a:r>
            <a:r>
              <a:rPr lang="fr-FR" sz="2000" dirty="0"/>
              <a:t> on </a:t>
            </a:r>
            <a:r>
              <a:rPr lang="fr-FR" sz="2000" dirty="0" err="1"/>
              <a:t>those</a:t>
            </a:r>
            <a:r>
              <a:rPr lang="fr-FR" sz="2000" dirty="0"/>
              <a:t> technologies</a:t>
            </a:r>
          </a:p>
          <a:p>
            <a:r>
              <a:rPr lang="fr-FR" sz="2000" dirty="0" err="1"/>
              <a:t>Different</a:t>
            </a:r>
            <a:r>
              <a:rPr lang="fr-FR" sz="2000" dirty="0"/>
              <a:t> </a:t>
            </a:r>
            <a:r>
              <a:rPr lang="fr-FR" sz="2000" dirty="0" err="1"/>
              <a:t>regulatory</a:t>
            </a:r>
            <a:r>
              <a:rPr lang="fr-FR" sz="2000" dirty="0"/>
              <a:t> </a:t>
            </a:r>
            <a:r>
              <a:rPr lang="fr-FR" sz="2000" dirty="0" err="1"/>
              <a:t>texts</a:t>
            </a:r>
            <a:r>
              <a:rPr lang="fr-FR" sz="2000" dirty="0"/>
              <a:t> (</a:t>
            </a:r>
            <a:r>
              <a:rPr lang="fr-FR" sz="2000" dirty="0" err="1"/>
              <a:t>when</a:t>
            </a:r>
            <a:r>
              <a:rPr lang="fr-FR" sz="2000" dirty="0"/>
              <a:t> </a:t>
            </a:r>
            <a:r>
              <a:rPr lang="fr-FR" sz="2000" dirty="0" err="1"/>
              <a:t>avaliable</a:t>
            </a:r>
            <a:r>
              <a:rPr lang="fr-FR" sz="2000" dirty="0"/>
              <a:t>)</a:t>
            </a:r>
          </a:p>
          <a:p>
            <a:r>
              <a:rPr lang="fr-FR" sz="2000" dirty="0" err="1"/>
              <a:t>Technology</a:t>
            </a:r>
            <a:r>
              <a:rPr lang="fr-FR" sz="2000" dirty="0"/>
              <a:t> </a:t>
            </a:r>
            <a:r>
              <a:rPr lang="fr-FR" sz="2000" dirty="0" err="1"/>
              <a:t>driven</a:t>
            </a:r>
            <a:r>
              <a:rPr lang="fr-FR" sz="2000" dirty="0"/>
              <a:t> world and </a:t>
            </a:r>
            <a:r>
              <a:rPr lang="fr-FR" sz="2000" dirty="0" err="1"/>
              <a:t>regulation</a:t>
            </a:r>
            <a:endParaRPr lang="fr-FR" sz="2000" dirty="0"/>
          </a:p>
          <a:p>
            <a:r>
              <a:rPr lang="fr-FR" sz="2000" dirty="0" err="1"/>
              <a:t>Acceleration</a:t>
            </a:r>
            <a:r>
              <a:rPr lang="fr-FR" sz="2000" dirty="0"/>
              <a:t> </a:t>
            </a:r>
            <a:r>
              <a:rPr lang="fr-FR" sz="2000" dirty="0" err="1"/>
              <a:t>this</a:t>
            </a:r>
            <a:r>
              <a:rPr lang="fr-FR" sz="2000" dirty="0"/>
              <a:t> </a:t>
            </a:r>
            <a:r>
              <a:rPr lang="fr-FR" sz="2000" dirty="0" err="1"/>
              <a:t>past</a:t>
            </a:r>
            <a:r>
              <a:rPr lang="fr-FR" sz="2000" dirty="0"/>
              <a:t> </a:t>
            </a:r>
            <a:r>
              <a:rPr lang="fr-FR" sz="2000" dirty="0" err="1"/>
              <a:t>decade</a:t>
            </a:r>
            <a:endParaRPr lang="fr-FR" sz="2000" dirty="0"/>
          </a:p>
          <a:p>
            <a:r>
              <a:rPr lang="fr-FR" sz="2000" dirty="0"/>
              <a:t>AVS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only</a:t>
            </a:r>
            <a:r>
              <a:rPr lang="fr-FR" sz="2000" dirty="0"/>
              <a:t> a </a:t>
            </a:r>
            <a:r>
              <a:rPr lang="fr-FR" sz="2000" dirty="0" err="1"/>
              <a:t>small</a:t>
            </a:r>
            <a:r>
              <a:rPr lang="fr-FR" sz="2000" dirty="0"/>
              <a:t> portion of surveillance techniques</a:t>
            </a:r>
          </a:p>
          <a:p>
            <a:endParaRPr lang="fr-FR" b="1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DEB37B-3A42-6567-6C26-4958FA1F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5C17-451B-4016-AF2B-87431345806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B25E6A-DEBE-F4F8-E625-7752D5D9B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FEF263-FADF-332C-8F98-B1251E70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14</a:t>
            </a:fld>
            <a:endParaRPr lang="en-US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EAD8779-128E-3C4E-32AC-1051F300D466}"/>
              </a:ext>
            </a:extLst>
          </p:cNvPr>
          <p:cNvSpPr txBox="1">
            <a:spLocks/>
          </p:cNvSpPr>
          <p:nvPr/>
        </p:nvSpPr>
        <p:spPr>
          <a:xfrm>
            <a:off x="877565" y="588245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dirty="0"/>
          </a:p>
        </p:txBody>
      </p:sp>
      <p:pic>
        <p:nvPicPr>
          <p:cNvPr id="2" name="Image 1" descr="november 2011 | Dear Jessie">
            <a:extLst>
              <a:ext uri="{FF2B5EF4-FFF2-40B4-BE49-F238E27FC236}">
                <a16:creationId xmlns:a16="http://schemas.microsoft.com/office/drawing/2014/main" id="{B7ED378E-E1F5-095E-28AD-496653AC2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925" y="2414016"/>
            <a:ext cx="4269281" cy="256161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7AE509C8-6E50-B7A0-23C2-ED105E85EE9B}"/>
              </a:ext>
            </a:extLst>
          </p:cNvPr>
          <p:cNvSpPr txBox="1">
            <a:spLocks/>
          </p:cNvSpPr>
          <p:nvPr/>
        </p:nvSpPr>
        <p:spPr>
          <a:xfrm>
            <a:off x="8899476" y="5023612"/>
            <a:ext cx="4403420" cy="1582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000" dirty="0"/>
              <a:t>Source : "</a:t>
            </a:r>
            <a:r>
              <a:rPr lang="fr-FR" sz="1000" i="1" dirty="0"/>
              <a:t>Madagascar</a:t>
            </a:r>
            <a:r>
              <a:rPr lang="fr-FR" sz="1000" dirty="0"/>
              <a:t>", </a:t>
            </a:r>
            <a:r>
              <a:rPr lang="fr-FR" sz="1000" dirty="0" err="1"/>
              <a:t>Dreamworks</a:t>
            </a:r>
            <a:endParaRPr lang="fr-FR" sz="100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0E76C13-29A4-5530-388A-EE4CA28CAF67}"/>
              </a:ext>
            </a:extLst>
          </p:cNvPr>
          <p:cNvSpPr txBox="1">
            <a:spLocks/>
          </p:cNvSpPr>
          <p:nvPr/>
        </p:nvSpPr>
        <p:spPr>
          <a:xfrm>
            <a:off x="877565" y="331803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Conclusion and </a:t>
            </a:r>
            <a:r>
              <a:rPr lang="fr-FR" dirty="0" err="1"/>
              <a:t>openings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6486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68ED-5A40-E2A4-8F31-93C4AB01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1AA369-78BA-0289-A8DC-01E611D5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626" y="4855304"/>
            <a:ext cx="6110299" cy="144360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fr-FR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1800" dirty="0">
                <a:ea typeface="+mn-lt"/>
                <a:cs typeface="+mn-lt"/>
              </a:rPr>
              <a:t>If </a:t>
            </a:r>
            <a:r>
              <a:rPr lang="fr-FR" sz="1800" dirty="0" err="1">
                <a:ea typeface="+mn-lt"/>
                <a:cs typeface="+mn-lt"/>
              </a:rPr>
              <a:t>you</a:t>
            </a:r>
            <a:r>
              <a:rPr lang="fr-FR" sz="1800" dirty="0">
                <a:ea typeface="+mn-lt"/>
                <a:cs typeface="+mn-lt"/>
              </a:rPr>
              <a:t> </a:t>
            </a:r>
            <a:r>
              <a:rPr lang="fr-FR" sz="1800" dirty="0" err="1">
                <a:ea typeface="+mn-lt"/>
                <a:cs typeface="+mn-lt"/>
              </a:rPr>
              <a:t>want</a:t>
            </a:r>
            <a:r>
              <a:rPr lang="fr-FR" sz="1800" dirty="0">
                <a:ea typeface="+mn-lt"/>
                <a:cs typeface="+mn-lt"/>
              </a:rPr>
              <a:t> to download the </a:t>
            </a:r>
            <a:r>
              <a:rPr lang="fr-FR" sz="1800" dirty="0" err="1">
                <a:ea typeface="+mn-lt"/>
                <a:cs typeface="+mn-lt"/>
              </a:rPr>
              <a:t>presentation</a:t>
            </a:r>
            <a:r>
              <a:rPr lang="fr-FR" sz="1800" dirty="0">
                <a:ea typeface="+mn-lt"/>
                <a:cs typeface="+mn-lt"/>
              </a:rPr>
              <a:t> and the </a:t>
            </a:r>
            <a:r>
              <a:rPr lang="fr-FR" sz="1800" dirty="0" err="1">
                <a:ea typeface="+mn-lt"/>
                <a:cs typeface="+mn-lt"/>
              </a:rPr>
              <a:t>bibliography</a:t>
            </a:r>
            <a:endParaRPr lang="fr-FR" b="1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DEB37B-3A42-6567-6C26-4958FA1F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5C17-451B-4016-AF2B-874313458069}" type="datetime1">
              <a:rPr lang="fr-FR"/>
              <a:t>12/06/2026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B25E6A-DEBE-F4F8-E625-7752D5D9B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FEF263-FADF-332C-8F98-B1251E70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15</a:t>
            </a:fld>
            <a:endParaRPr lang="en-US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EAD8779-128E-3C4E-32AC-1051F300D466}"/>
              </a:ext>
            </a:extLst>
          </p:cNvPr>
          <p:cNvSpPr txBox="1">
            <a:spLocks/>
          </p:cNvSpPr>
          <p:nvPr/>
        </p:nvSpPr>
        <p:spPr>
          <a:xfrm>
            <a:off x="877565" y="588245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dirty="0"/>
          </a:p>
        </p:txBody>
      </p:sp>
      <p:pic>
        <p:nvPicPr>
          <p:cNvPr id="2" name="Image 1" descr="november 2011 | Dear Jessie">
            <a:extLst>
              <a:ext uri="{FF2B5EF4-FFF2-40B4-BE49-F238E27FC236}">
                <a16:creationId xmlns:a16="http://schemas.microsoft.com/office/drawing/2014/main" id="{B7ED378E-E1F5-095E-28AD-496653AC2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925" y="2414016"/>
            <a:ext cx="4269281" cy="256161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7AE509C8-6E50-B7A0-23C2-ED105E85EE9B}"/>
              </a:ext>
            </a:extLst>
          </p:cNvPr>
          <p:cNvSpPr txBox="1">
            <a:spLocks/>
          </p:cNvSpPr>
          <p:nvPr/>
        </p:nvSpPr>
        <p:spPr>
          <a:xfrm>
            <a:off x="8899476" y="5023612"/>
            <a:ext cx="4403420" cy="1582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000" dirty="0"/>
              <a:t>Source : "</a:t>
            </a:r>
            <a:r>
              <a:rPr lang="fr-FR" sz="1000" i="1" dirty="0"/>
              <a:t>Madagascar</a:t>
            </a:r>
            <a:r>
              <a:rPr lang="fr-FR" sz="1000" dirty="0"/>
              <a:t>", </a:t>
            </a:r>
            <a:r>
              <a:rPr lang="fr-FR" sz="1000" err="1"/>
              <a:t>Dreamworks</a:t>
            </a:r>
            <a:endParaRPr lang="fr-FR" sz="100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0E76C13-29A4-5530-388A-EE4CA28CAF67}"/>
              </a:ext>
            </a:extLst>
          </p:cNvPr>
          <p:cNvSpPr txBox="1">
            <a:spLocks/>
          </p:cNvSpPr>
          <p:nvPr/>
        </p:nvSpPr>
        <p:spPr>
          <a:xfrm>
            <a:off x="877565" y="331803"/>
            <a:ext cx="10443327" cy="813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/>
              <a:t>Thank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for </a:t>
            </a:r>
            <a:r>
              <a:rPr lang="fr-FR" dirty="0" err="1"/>
              <a:t>your</a:t>
            </a:r>
            <a:r>
              <a:rPr lang="fr-FR" dirty="0"/>
              <a:t> attention !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43D524E-EE52-0801-5B80-D4DBEDFB4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956850" y="4989901"/>
            <a:ext cx="555423" cy="26539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710E68A-82AF-0B73-D475-FCEBF7F54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209" y="1398930"/>
            <a:ext cx="3416703" cy="342765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4F6EAF9-9B86-8918-1F49-DDCB31446EFD}"/>
              </a:ext>
            </a:extLst>
          </p:cNvPr>
          <p:cNvSpPr txBox="1"/>
          <p:nvPr/>
        </p:nvSpPr>
        <p:spPr>
          <a:xfrm>
            <a:off x="2695321" y="5864393"/>
            <a:ext cx="66511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i="1" dirty="0"/>
              <a:t>https://</a:t>
            </a:r>
            <a:r>
              <a:rPr lang="fr-FR" sz="1000" i="1" dirty="0" err="1"/>
              <a:t>github.com</a:t>
            </a:r>
            <a:r>
              <a:rPr lang="fr-FR" sz="1000" i="1" dirty="0"/>
              <a:t>/</a:t>
            </a:r>
            <a:r>
              <a:rPr lang="fr-FR" sz="1000" i="1" dirty="0" err="1"/>
              <a:t>Oraclia</a:t>
            </a:r>
            <a:r>
              <a:rPr lang="fr-FR" sz="1000" i="1" dirty="0"/>
              <a:t>/SSN_2026/blob/main/</a:t>
            </a:r>
            <a:r>
              <a:rPr lang="fr-FR" sz="1000" i="1" dirty="0" err="1"/>
              <a:t>README.md</a:t>
            </a:r>
            <a:endParaRPr lang="fr-FR" sz="1000" i="1" dirty="0"/>
          </a:p>
        </p:txBody>
      </p:sp>
    </p:spTree>
    <p:extLst>
      <p:ext uri="{BB962C8B-B14F-4D97-AF65-F5344CB8AC3E}">
        <p14:creationId xmlns:p14="http://schemas.microsoft.com/office/powerpoint/2010/main" val="2018855669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926</Words>
  <Application>Microsoft Macintosh PowerPoint</Application>
  <PresentationFormat>Grand écran</PresentationFormat>
  <Paragraphs>182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Aptos Light</vt:lpstr>
      <vt:lpstr>Arial</vt:lpstr>
      <vt:lpstr>Calibri</vt:lpstr>
      <vt:lpstr>Walbaum Display</vt:lpstr>
      <vt:lpstr>Wingdings</vt:lpstr>
      <vt:lpstr>BohoVogueVTI</vt:lpstr>
      <vt:lpstr>Surveillance techniques evaluation, a computer science and public law study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data anonymisation : a thereshold issue? </dc:title>
  <dc:creator/>
  <cp:lastModifiedBy>Mélanie Romano</cp:lastModifiedBy>
  <cp:revision>719</cp:revision>
  <dcterms:created xsi:type="dcterms:W3CDTF">2025-07-04T09:26:31Z</dcterms:created>
  <dcterms:modified xsi:type="dcterms:W3CDTF">2026-06-12T07:38:18Z</dcterms:modified>
</cp:coreProperties>
</file>